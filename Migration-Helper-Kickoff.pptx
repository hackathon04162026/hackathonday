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6F90-D521-6D67-E886-B9AD03456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36D7F-6A0D-817C-F595-6C8E8D3EF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54CA-A840-C5DD-7B55-303EB2D3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70621-52B6-04F7-C5CD-69A684F2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1F5A-8B27-9F8C-9970-D487630C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0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425D-9244-85C1-2065-8C21D067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A9EB3-887C-4762-C7CD-62D5DF68C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3BA8F-30AC-4C0C-900C-6EF050C4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43B5-F3CD-6F40-E721-B75EAD19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0D2C5-25C8-B66B-A77C-BDBAA10F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8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63B3-31E5-70EE-3650-11CE1C66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BFAF3-92CD-CE28-EB96-37CD22CFB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ACCFB-7DEB-BA3F-E54B-9F118053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87884-6E33-B038-C060-B7DCA316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D5D3-E02D-FCFF-0CAA-C069915F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A621-B587-039E-9684-6D4E848A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C6A29-A1FA-EE1C-394B-1C8CAD96F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E0EF5-CA0D-62F3-AD80-C418FB6C5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11AC3-BCD3-EBBB-A64D-D43B2B74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41E3F-5055-F8D9-27D3-0F1276C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2D085-81FA-7195-E782-930F6C27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6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3CBE-7636-B870-A641-E51EF421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3BF8C-4F95-198A-A15A-21BFAEE5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73011-1BD7-940B-84B0-3907BFD51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D1659-D246-DB45-62A2-1EA4C5270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90D12-7A6F-87F6-C36A-1D7C90ADC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E66D7-CFF1-C2F0-D7CF-52148808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7A4DBF-6F11-242A-A33F-9E0BB40C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EBEB0-B278-1E57-6E9A-9C3D360F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8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604D-5D8C-0279-4402-FBCCAAB6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AA6C1-B233-4378-B6D8-C3CFB32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A201B-D7A0-1C08-1A0E-6E7AF512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1E0CC-A550-76BD-7DC1-F2A4DEB1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2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82B34-C352-5336-2F16-898664F9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30F6-D5E7-2883-5838-222E0E9C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8316A-B8AB-D6A4-731E-539A8A40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6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56DE-44B2-0E12-840E-D59F88C5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B0E7-95F5-711D-6A73-601A96764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A8507-80F9-C03D-3EBD-32CFFA6B0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EDC55-03A7-4F01-0BFC-02D290D9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DC5C1-3766-1D9D-CFC8-3C90A9965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4D6D-EC5D-B0DE-AE08-11822240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4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413F-4BD3-6894-F584-80A1B80E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0C89E-20A1-AF1E-8D33-693B030C5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3352E-A916-C2A8-D8BB-C33917B49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64C9E-3C81-C248-12DF-3F60FC46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9833C-A913-7DD4-595F-029BF8EE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D829B-CA8F-7273-C88F-E3E018D5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A827-225D-5665-5638-47E46EC6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5A7AE-3A43-D3FF-33CC-A309582E0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7E00D-3431-EF35-7FBD-1A682B65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EA8D-6F69-681B-2802-B839D6F4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B314-BC35-0587-88F2-DA08B22A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5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631F3-0EDF-13B6-52EE-A9EAEBD23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7953D-E103-0E6C-4574-CB319355B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B9B30-4680-78AB-EEA6-1AFA59FA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29FF-6A4E-68E7-871C-43F00131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FD220-F92C-2174-EEAF-430F2275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B3E9C-9ACB-9046-C5F4-93C1AEFC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74C7B-71B8-C232-0A64-06E435558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7225A-CA5B-B0F4-D4DF-89EC962F6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D6025-1C2D-4649-B2C1-670C1A70595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579D5-C806-A50D-B56C-52302F86A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A8E77-6BC4-0DA2-FF8F-F32D857B1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43104-224A-47B8-8397-498F5C26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8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3CE72C-EF04-5CFA-34F8-5D9AAB9C3D2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2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98C2DA-486B-18E7-9DC8-7CE4E6305860}"/>
              </a:ext>
            </a:extLst>
          </p:cNvPr>
          <p:cNvSpPr/>
          <p:nvPr/>
        </p:nvSpPr>
        <p:spPr>
          <a:xfrm>
            <a:off x="7955280" y="-502920"/>
            <a:ext cx="4206240" cy="4206240"/>
          </a:xfrm>
          <a:prstGeom prst="ellipse">
            <a:avLst/>
          </a:prstGeom>
          <a:solidFill>
            <a:srgbClr val="145AC8">
              <a:alpha val="9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7DEB69-E7F8-4223-A9F0-206D1B24B36D}"/>
              </a:ext>
            </a:extLst>
          </p:cNvPr>
          <p:cNvSpPr/>
          <p:nvPr/>
        </p:nvSpPr>
        <p:spPr>
          <a:xfrm>
            <a:off x="8503920" y="4297680"/>
            <a:ext cx="2377440" cy="2377440"/>
          </a:xfrm>
          <a:prstGeom prst="ellipse">
            <a:avLst/>
          </a:prstGeom>
          <a:solidFill>
            <a:srgbClr val="0F6A7A">
              <a:alpha val="8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349FC-B02D-2717-DAC7-C19AF1BCFE21}"/>
              </a:ext>
            </a:extLst>
          </p:cNvPr>
          <p:cNvSpPr txBox="1"/>
          <p:nvPr/>
        </p:nvSpPr>
        <p:spPr>
          <a:xfrm>
            <a:off x="749808" y="1005840"/>
            <a:ext cx="2377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F8A1D"/>
                </a:solidFill>
                <a:latin typeface="Aptos Display" panose="020B0004020202020204" pitchFamily="34" charset="0"/>
              </a:rPr>
              <a:t>KICKOFF DECK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66B4E-5885-0FEB-1372-4F14FCB37197}"/>
              </a:ext>
            </a:extLst>
          </p:cNvPr>
          <p:cNvSpPr txBox="1"/>
          <p:nvPr/>
        </p:nvSpPr>
        <p:spPr>
          <a:xfrm>
            <a:off x="713232" y="1600200"/>
            <a:ext cx="6949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Migration Helper Build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56ED3-5419-C9B0-4A8E-F73E49B1B341}"/>
              </a:ext>
            </a:extLst>
          </p:cNvPr>
          <p:cNvSpPr txBox="1"/>
          <p:nvPr/>
        </p:nvSpPr>
        <p:spPr>
          <a:xfrm>
            <a:off x="749808" y="3063240"/>
            <a:ext cx="676656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900">
                <a:solidFill>
                  <a:srgbClr val="F8F6F4"/>
                </a:solidFill>
                <a:latin typeface="Aptos" panose="020B0004020202020204" pitchFamily="34" charset="0"/>
              </a:rPr>
              <a:t>Build a web app that scans uploaded codebases, inventories technologies and versions, maps support expiry, and recommends upgrade paths with explainable evidence.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FFB56-1D2C-CC96-544A-6244050864C7}"/>
              </a:ext>
            </a:extLst>
          </p:cNvPr>
          <p:cNvSpPr txBox="1"/>
          <p:nvPr/>
        </p:nvSpPr>
        <p:spPr>
          <a:xfrm>
            <a:off x="749808" y="5303520"/>
            <a:ext cx="420624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CF8A1D"/>
                </a:solidFill>
                <a:latin typeface="Aptos" panose="020B0004020202020204" pitchFamily="34" charset="0"/>
              </a:rPr>
              <a:t>Java backend â€¢ thin web UI â€¢ bundled support policy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92321A-2C9C-4C7F-4536-69625101E4CF}"/>
              </a:ext>
            </a:extLst>
          </p:cNvPr>
          <p:cNvSpPr/>
          <p:nvPr/>
        </p:nvSpPr>
        <p:spPr>
          <a:xfrm>
            <a:off x="749808" y="5806440"/>
            <a:ext cx="1737360" cy="685800"/>
          </a:xfrm>
          <a:prstGeom prst="rect">
            <a:avLst/>
          </a:prstGeom>
          <a:solidFill>
            <a:srgbClr val="DEE8F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165C6-C9CC-CD75-57E3-BDD2E0C4362A}"/>
              </a:ext>
            </a:extLst>
          </p:cNvPr>
          <p:cNvSpPr txBox="1"/>
          <p:nvPr/>
        </p:nvSpPr>
        <p:spPr>
          <a:xfrm>
            <a:off x="914400" y="591616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70645B"/>
                </a:solidFill>
                <a:latin typeface="Aptos" panose="020B0004020202020204" pitchFamily="34" charset="0"/>
              </a:rPr>
              <a:t>PRIMARY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5A51-A181-386F-7D49-7B8D0BDC7400}"/>
              </a:ext>
            </a:extLst>
          </p:cNvPr>
          <p:cNvSpPr txBox="1"/>
          <p:nvPr/>
        </p:nvSpPr>
        <p:spPr>
          <a:xfrm>
            <a:off x="914400" y="619048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200" b="1">
                <a:solidFill>
                  <a:srgbClr val="141F2D"/>
                </a:solidFill>
                <a:latin typeface="Aptos Display" panose="020B0004020202020204" pitchFamily="34" charset="0"/>
              </a:rPr>
              <a:t>Upload â†’ Report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94D85-9D40-F7B4-416C-6DA7B9FE63BC}"/>
              </a:ext>
            </a:extLst>
          </p:cNvPr>
          <p:cNvSpPr/>
          <p:nvPr/>
        </p:nvSpPr>
        <p:spPr>
          <a:xfrm>
            <a:off x="2697480" y="5806440"/>
            <a:ext cx="1737360" cy="685800"/>
          </a:xfrm>
          <a:prstGeom prst="rect">
            <a:avLst/>
          </a:prstGeom>
          <a:solidFill>
            <a:srgbClr val="F1F2E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BE98E-88A2-C2A4-3944-E13E81FE47F5}"/>
              </a:ext>
            </a:extLst>
          </p:cNvPr>
          <p:cNvSpPr txBox="1"/>
          <p:nvPr/>
        </p:nvSpPr>
        <p:spPr>
          <a:xfrm>
            <a:off x="2862072" y="591616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70645B"/>
                </a:solidFill>
                <a:latin typeface="Aptos" panose="020B0004020202020204" pitchFamily="34" charset="0"/>
              </a:rPr>
              <a:t>V1 COVERAGE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E79B7-913F-7793-8F4E-7D580E7383CE}"/>
              </a:ext>
            </a:extLst>
          </p:cNvPr>
          <p:cNvSpPr txBox="1"/>
          <p:nvPr/>
        </p:nvSpPr>
        <p:spPr>
          <a:xfrm>
            <a:off x="2862072" y="619048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200" b="1">
                <a:solidFill>
                  <a:srgbClr val="141F2D"/>
                </a:solidFill>
                <a:latin typeface="Aptos Display" panose="020B0004020202020204" pitchFamily="34" charset="0"/>
              </a:rPr>
              <a:t>Top Stacks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EA6DF7-FAA0-CD2C-4399-2582A4B4A088}"/>
              </a:ext>
            </a:extLst>
          </p:cNvPr>
          <p:cNvSpPr/>
          <p:nvPr/>
        </p:nvSpPr>
        <p:spPr>
          <a:xfrm>
            <a:off x="4645152" y="5806440"/>
            <a:ext cx="1737360" cy="685800"/>
          </a:xfrm>
          <a:prstGeom prst="rect">
            <a:avLst/>
          </a:prstGeom>
          <a:solidFill>
            <a:srgbClr val="FAF0D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21A3DA-8743-05F3-DAD9-E2C2A3308995}"/>
              </a:ext>
            </a:extLst>
          </p:cNvPr>
          <p:cNvSpPr txBox="1"/>
          <p:nvPr/>
        </p:nvSpPr>
        <p:spPr>
          <a:xfrm>
            <a:off x="4809744" y="591616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70645B"/>
                </a:solidFill>
                <a:latin typeface="Aptos" panose="020B0004020202020204" pitchFamily="34" charset="0"/>
              </a:rPr>
              <a:t>DELIVERY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D2D1D-EB75-8EFB-336F-A6A3A5C14081}"/>
              </a:ext>
            </a:extLst>
          </p:cNvPr>
          <p:cNvSpPr txBox="1"/>
          <p:nvPr/>
        </p:nvSpPr>
        <p:spPr>
          <a:xfrm>
            <a:off x="4809744" y="6190488"/>
            <a:ext cx="14630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200" b="1">
                <a:solidFill>
                  <a:srgbClr val="141F2D"/>
                </a:solidFill>
                <a:latin typeface="Aptos Display" panose="020B0004020202020204" pitchFamily="34" charset="0"/>
              </a:rPr>
              <a:t>Codex Workers</a:t>
            </a:r>
          </a:p>
        </p:txBody>
      </p:sp>
    </p:spTree>
    <p:extLst>
      <p:ext uri="{BB962C8B-B14F-4D97-AF65-F5344CB8AC3E}">
        <p14:creationId xmlns:p14="http://schemas.microsoft.com/office/powerpoint/2010/main" val="316403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F1E2A-7766-DB08-7CBA-6B12CEBD837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AC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3BA66-9527-22A3-91EB-B387FB95FCC4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Why This Exists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CC50E-1003-79A9-A0D8-A7451E9AABC4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The kickoff goal is a first usable product, not an endless architecture exercise.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4213A-B4B7-FFC3-65E8-B27036746EAA}"/>
              </a:ext>
            </a:extLst>
          </p:cNvPr>
          <p:cNvSpPr/>
          <p:nvPr/>
        </p:nvSpPr>
        <p:spPr>
          <a:xfrm>
            <a:off x="566928" y="1508760"/>
            <a:ext cx="5440680" cy="4434840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D2235-093A-05A8-BE97-4EB8CE0BC6F1}"/>
              </a:ext>
            </a:extLst>
          </p:cNvPr>
          <p:cNvSpPr/>
          <p:nvPr/>
        </p:nvSpPr>
        <p:spPr>
          <a:xfrm>
            <a:off x="6172200" y="1508760"/>
            <a:ext cx="54406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42944-4D0B-A0EC-4BC9-72A3ADD40CFC}"/>
              </a:ext>
            </a:extLst>
          </p:cNvPr>
          <p:cNvSpPr txBox="1"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What the tool must 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F944D-FF9C-E9F9-0FC7-558F0F9EF72D}"/>
              </a:ext>
            </a:extLst>
          </p:cNvPr>
          <p:cNvSpPr txBox="1"/>
          <p:nvPr/>
        </p:nvSpPr>
        <p:spPr>
          <a:xfrm>
            <a:off x="84124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Accept an uploaded archive and a development-time local path.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Detect technologies, runtimes, build tools, and key frameworks.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Report current versions with evidence and confidence.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Show support status, support expiry, and recommended upgrade targets.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6DF03-F778-6FA5-D733-74E3FBE3874E}"/>
              </a:ext>
            </a:extLst>
          </p:cNvPr>
          <p:cNvSpPr txBox="1"/>
          <p:nvPr/>
        </p:nvSpPr>
        <p:spPr>
          <a:xfrm>
            <a:off x="644652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Success criteria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384E6C-CDFD-F663-A301-B69090E98E88}"/>
              </a:ext>
            </a:extLst>
          </p:cNvPr>
          <p:cNvSpPr txBox="1"/>
          <p:nvPr/>
        </p:nvSpPr>
        <p:spPr>
          <a:xfrm>
            <a:off x="646480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Readable report for every completed scan.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No silent guessing for unknown or inherited versions.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Alternative upgrade options beyond the recommended next step.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Stable, testable lifecycle data shipped with the product.</a:t>
            </a:r>
          </a:p>
        </p:txBody>
      </p:sp>
    </p:spTree>
    <p:extLst>
      <p:ext uri="{BB962C8B-B14F-4D97-AF65-F5344CB8AC3E}">
        <p14:creationId xmlns:p14="http://schemas.microsoft.com/office/powerpoint/2010/main" val="291607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821D69-2371-5EBA-9220-D1BC504A56B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A7A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3A24B-8FDD-181D-B9A2-DCD00324D03A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Architecture Snapshot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0DBD8-8046-248A-A251-7EFF51F16DEE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One service owns scanning and the UI stays intentionally thin.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C4CBF-4F1B-9815-ABD4-D3405C4412C0}"/>
              </a:ext>
            </a:extLst>
          </p:cNvPr>
          <p:cNvSpPr/>
          <p:nvPr/>
        </p:nvSpPr>
        <p:spPr>
          <a:xfrm>
            <a:off x="566928" y="1508760"/>
            <a:ext cx="5440680" cy="4434840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8B8101-9421-0DB3-971F-0FCB88FD0E50}"/>
              </a:ext>
            </a:extLst>
          </p:cNvPr>
          <p:cNvSpPr/>
          <p:nvPr/>
        </p:nvSpPr>
        <p:spPr>
          <a:xfrm>
            <a:off x="6172200" y="1508760"/>
            <a:ext cx="54406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81086-D150-FDDC-FEE8-AE1D08D7D400}"/>
              </a:ext>
            </a:extLst>
          </p:cNvPr>
          <p:cNvSpPr txBox="1"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Backend responsibilities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F8391-BA20-FB26-2515-0755D525B4B7}"/>
              </a:ext>
            </a:extLst>
          </p:cNvPr>
          <p:cNvSpPr txBox="1"/>
          <p:nvPr/>
        </p:nvSpPr>
        <p:spPr>
          <a:xfrm>
            <a:off x="84124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Ingest and normalize uploaded sources into a temporary workspace.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Run ecosystem detectors and build dependency graphs where deterministic.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Map support-policy data and generate upgrade recommendations.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Return a normalized JSON report and scan summary endpoints.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6C301-6789-EF6C-F22B-27963592EB0D}"/>
              </a:ext>
            </a:extLst>
          </p:cNvPr>
          <p:cNvSpPr txBox="1"/>
          <p:nvPr/>
        </p:nvSpPr>
        <p:spPr>
          <a:xfrm>
            <a:off x="644652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UI responsibilities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2546F-E281-011B-132C-BF2EBB68F030}"/>
              </a:ext>
            </a:extLst>
          </p:cNvPr>
          <p:cNvSpPr txBox="1"/>
          <p:nvPr/>
        </p:nvSpPr>
        <p:spPr>
          <a:xfrm>
            <a:off x="646480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Archive upload and scan session history.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Summary cards for unsupported or expiring technologies.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Filterable results table and detail drawer for evidence.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JSON export for downstream analysis and sharing.</a:t>
            </a:r>
          </a:p>
        </p:txBody>
      </p:sp>
    </p:spTree>
    <p:extLst>
      <p:ext uri="{BB962C8B-B14F-4D97-AF65-F5344CB8AC3E}">
        <p14:creationId xmlns:p14="http://schemas.microsoft.com/office/powerpoint/2010/main" val="173911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381914-76AE-D08F-5E50-2A4DC19CC5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2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A41046-0DD8-B178-6B30-022B67EABF31}"/>
              </a:ext>
            </a:extLst>
          </p:cNvPr>
          <p:cNvSpPr/>
          <p:nvPr/>
        </p:nvSpPr>
        <p:spPr>
          <a:xfrm>
            <a:off x="8046720" y="-640080"/>
            <a:ext cx="3749040" cy="3749040"/>
          </a:xfrm>
          <a:prstGeom prst="ellipse">
            <a:avLst/>
          </a:prstGeom>
          <a:solidFill>
            <a:srgbClr val="145AC8">
              <a:alpha val="85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902368-0BF2-F0DD-5ADC-57D030BF0052}"/>
              </a:ext>
            </a:extLst>
          </p:cNvPr>
          <p:cNvSpPr/>
          <p:nvPr/>
        </p:nvSpPr>
        <p:spPr>
          <a:xfrm>
            <a:off x="8961120" y="4389120"/>
            <a:ext cx="2743200" cy="2743200"/>
          </a:xfrm>
          <a:prstGeom prst="ellipse">
            <a:avLst/>
          </a:prstGeom>
          <a:solidFill>
            <a:srgbClr val="0F6A7A">
              <a:alpha val="75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6E0E7-0BA5-3CEA-9809-327FDB573E66}"/>
              </a:ext>
            </a:extLst>
          </p:cNvPr>
          <p:cNvSpPr txBox="1"/>
          <p:nvPr/>
        </p:nvSpPr>
        <p:spPr>
          <a:xfrm>
            <a:off x="731520" y="1143000"/>
            <a:ext cx="6400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CF8A1D"/>
                </a:solidFill>
                <a:latin typeface="Aptos" panose="020B0004020202020204" pitchFamily="34" charset="0"/>
              </a:rPr>
              <a:t>Migration Helper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09BFE-A82D-1A48-76CE-E3443F5AB38A}"/>
              </a:ext>
            </a:extLst>
          </p:cNvPr>
          <p:cNvSpPr txBox="1"/>
          <p:nvPr/>
        </p:nvSpPr>
        <p:spPr>
          <a:xfrm>
            <a:off x="713232" y="1828800"/>
            <a:ext cx="71323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 Display" panose="020B0004020202020204" pitchFamily="34" charset="0"/>
              </a:rPr>
              <a:t>Implementation Workstreams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2F132-58EE-429F-FAF4-7B1552F37013}"/>
              </a:ext>
            </a:extLst>
          </p:cNvPr>
          <p:cNvSpPr txBox="1"/>
          <p:nvPr/>
        </p:nvSpPr>
        <p:spPr>
          <a:xfrm>
            <a:off x="749808" y="2926080"/>
            <a:ext cx="676656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F8F6F4"/>
                </a:solidFill>
                <a:latin typeface="Aptos" panose="020B0004020202020204" pitchFamily="34" charset="0"/>
              </a:rPr>
              <a:t>The build is organized into parallel tracks with one shared contract at the center so Codex can move quickly without creating merge chaos.</a:t>
            </a:r>
          </a:p>
        </p:txBody>
      </p:sp>
    </p:spTree>
    <p:extLst>
      <p:ext uri="{BB962C8B-B14F-4D97-AF65-F5344CB8AC3E}">
        <p14:creationId xmlns:p14="http://schemas.microsoft.com/office/powerpoint/2010/main" val="322617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492146-2F30-522E-D6AB-540D3B6DD0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AC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43892-1987-1463-507C-85A4252059E3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Delivery Waves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3162D-F674-06C8-A979-1FA1610B4E6C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Work is staged so Codex workers can move in parallel without stepping on shared contracts.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05E05-0725-509B-6FCF-6F6861936FB1}"/>
              </a:ext>
            </a:extLst>
          </p:cNvPr>
          <p:cNvSpPr/>
          <p:nvPr/>
        </p:nvSpPr>
        <p:spPr>
          <a:xfrm>
            <a:off x="822960" y="1554480"/>
            <a:ext cx="10515600" cy="713232"/>
          </a:xfrm>
          <a:prstGeom prst="rect">
            <a:avLst/>
          </a:prstGeom>
          <a:solidFill>
            <a:srgbClr val="DEE8F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49873-4A7C-FD87-2E60-84742012C925}"/>
              </a:ext>
            </a:extLst>
          </p:cNvPr>
          <p:cNvSpPr txBox="1"/>
          <p:nvPr/>
        </p:nvSpPr>
        <p:spPr>
          <a:xfrm>
            <a:off x="1051560" y="1645920"/>
            <a:ext cx="914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Wave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81D7F-C809-0561-2942-3F26A05F5229}"/>
              </a:ext>
            </a:extLst>
          </p:cNvPr>
          <p:cNvSpPr txBox="1"/>
          <p:nvPr/>
        </p:nvSpPr>
        <p:spPr>
          <a:xfrm>
            <a:off x="2057400" y="1645920"/>
            <a:ext cx="8686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Shared contract  â€¢  Java app skeleton  â€¢  UI shell with mock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1C6206-C2A4-B3EA-5AAA-0B9E6CF5C340}"/>
              </a:ext>
            </a:extLst>
          </p:cNvPr>
          <p:cNvSpPr/>
          <p:nvPr/>
        </p:nvSpPr>
        <p:spPr>
          <a:xfrm>
            <a:off x="822960" y="2514600"/>
            <a:ext cx="10515600" cy="713232"/>
          </a:xfrm>
          <a:prstGeom prst="rect">
            <a:avLst/>
          </a:prstGeom>
          <a:solidFill>
            <a:srgbClr val="F1F2E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DA075-93B6-56C1-CCAC-68AD2C899D22}"/>
              </a:ext>
            </a:extLst>
          </p:cNvPr>
          <p:cNvSpPr txBox="1"/>
          <p:nvPr/>
        </p:nvSpPr>
        <p:spPr>
          <a:xfrm>
            <a:off x="1051560" y="2606040"/>
            <a:ext cx="914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Wave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B6FE8-FBE6-EE98-1A98-37CCCDCF69F2}"/>
              </a:ext>
            </a:extLst>
          </p:cNvPr>
          <p:cNvSpPr txBox="1"/>
          <p:nvPr/>
        </p:nvSpPr>
        <p:spPr>
          <a:xfrm>
            <a:off x="2057400" y="2606040"/>
            <a:ext cx="8686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Ingestion and normalization  â€¢  Detector SPI  â€¢  Policy loader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6A9EA1-9C3B-EA63-FBF2-1B9FDD236A55}"/>
              </a:ext>
            </a:extLst>
          </p:cNvPr>
          <p:cNvSpPr/>
          <p:nvPr/>
        </p:nvSpPr>
        <p:spPr>
          <a:xfrm>
            <a:off x="822960" y="3474720"/>
            <a:ext cx="10515600" cy="713232"/>
          </a:xfrm>
          <a:prstGeom prst="rect">
            <a:avLst/>
          </a:prstGeom>
          <a:solidFill>
            <a:srgbClr val="FAF0D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4D645-94CF-9639-B09F-03A4B7B8F0C4}"/>
              </a:ext>
            </a:extLst>
          </p:cNvPr>
          <p:cNvSpPr txBox="1"/>
          <p:nvPr/>
        </p:nvSpPr>
        <p:spPr>
          <a:xfrm>
            <a:off x="1051560" y="3566160"/>
            <a:ext cx="914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Wave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418B8-BA5B-6443-0ED1-7645341288FE}"/>
              </a:ext>
            </a:extLst>
          </p:cNvPr>
          <p:cNvSpPr txBox="1"/>
          <p:nvPr/>
        </p:nvSpPr>
        <p:spPr>
          <a:xfrm>
            <a:off x="2057400" y="3566160"/>
            <a:ext cx="8686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Node and Java detectors  â€¢  Python/.NET/Go/Docker/CI detectors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D7C6F9-8FA1-E0FE-57B8-FE4BC2D01A4F}"/>
              </a:ext>
            </a:extLst>
          </p:cNvPr>
          <p:cNvSpPr/>
          <p:nvPr/>
        </p:nvSpPr>
        <p:spPr>
          <a:xfrm>
            <a:off x="822960" y="4434840"/>
            <a:ext cx="10515600" cy="713232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0F5336-AC60-55EF-4B48-5597CE64C4A0}"/>
              </a:ext>
            </a:extLst>
          </p:cNvPr>
          <p:cNvSpPr txBox="1"/>
          <p:nvPr/>
        </p:nvSpPr>
        <p:spPr>
          <a:xfrm>
            <a:off x="1051560" y="4526280"/>
            <a:ext cx="914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Wave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5534E6-A370-B72C-8E0E-3AEED0039CD6}"/>
              </a:ext>
            </a:extLst>
          </p:cNvPr>
          <p:cNvSpPr txBox="1"/>
          <p:nvPr/>
        </p:nvSpPr>
        <p:spPr>
          <a:xfrm>
            <a:off x="2057400" y="4526280"/>
            <a:ext cx="8686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Recommendations  â€¢  Aggregation  â€¢  Observability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5EA216-F38B-51E0-7E0D-6C3DF7EF1CE0}"/>
              </a:ext>
            </a:extLst>
          </p:cNvPr>
          <p:cNvSpPr/>
          <p:nvPr/>
        </p:nvSpPr>
        <p:spPr>
          <a:xfrm>
            <a:off x="822960" y="5394960"/>
            <a:ext cx="10515600" cy="713232"/>
          </a:xfrm>
          <a:prstGeom prst="rect">
            <a:avLst/>
          </a:prstGeom>
          <a:solidFill>
            <a:srgbClr val="F8E9E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30E9A-0B8B-F4F1-3140-7B152802A3F1}"/>
              </a:ext>
            </a:extLst>
          </p:cNvPr>
          <p:cNvSpPr txBox="1"/>
          <p:nvPr/>
        </p:nvSpPr>
        <p:spPr>
          <a:xfrm>
            <a:off x="1051560" y="5486400"/>
            <a:ext cx="914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Wave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3698ED-0893-0284-FCB8-9C756C97F25A}"/>
              </a:ext>
            </a:extLst>
          </p:cNvPr>
          <p:cNvSpPr txBox="1"/>
          <p:nvPr/>
        </p:nvSpPr>
        <p:spPr>
          <a:xfrm>
            <a:off x="2057400" y="5486400"/>
            <a:ext cx="86868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Live UI wiring  â€¢  Golden reports  â€¢  Integration tests  â€¢  Docs</a:t>
            </a:r>
          </a:p>
        </p:txBody>
      </p:sp>
    </p:spTree>
    <p:extLst>
      <p:ext uri="{BB962C8B-B14F-4D97-AF65-F5344CB8AC3E}">
        <p14:creationId xmlns:p14="http://schemas.microsoft.com/office/powerpoint/2010/main" val="41954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58BD5-814F-D584-F2F4-05575E7E784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A7A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C771B-7F98-F6A7-5F2F-917833730D6B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Codex Worker Ownership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3EA8D-C6E9-CF19-81B2-A877A345A6C8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Each worker has a crisp write-scope and must route shared-model changes through the designated owner.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E90D3-609A-53B2-3A43-919607A60E16}"/>
              </a:ext>
            </a:extLst>
          </p:cNvPr>
          <p:cNvSpPr/>
          <p:nvPr/>
        </p:nvSpPr>
        <p:spPr>
          <a:xfrm>
            <a:off x="640080" y="1554480"/>
            <a:ext cx="3657600" cy="1143000"/>
          </a:xfrm>
          <a:prstGeom prst="rect">
            <a:avLst/>
          </a:prstGeom>
          <a:solidFill>
            <a:srgbClr val="DEE8F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6EF1B-6E9E-435E-8B4F-3E678771E1F7}"/>
              </a:ext>
            </a:extLst>
          </p:cNvPr>
          <p:cNvSpPr txBox="1"/>
          <p:nvPr/>
        </p:nvSpPr>
        <p:spPr>
          <a:xfrm>
            <a:off x="786384" y="1682496"/>
            <a:ext cx="338328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1630B-7891-5B8E-5B9E-BFD3BFE2E602}"/>
              </a:ext>
            </a:extLst>
          </p:cNvPr>
          <p:cNvSpPr txBox="1"/>
          <p:nvPr/>
        </p:nvSpPr>
        <p:spPr>
          <a:xfrm>
            <a:off x="786384" y="1975104"/>
            <a:ext cx="338328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Platform and API core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Shared contracts, scan lifecycle, final report aggregation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7667B-189D-CFB7-F4A2-7B51938C246D}"/>
              </a:ext>
            </a:extLst>
          </p:cNvPr>
          <p:cNvSpPr/>
          <p:nvPr/>
        </p:nvSpPr>
        <p:spPr>
          <a:xfrm>
            <a:off x="4434840" y="1554480"/>
            <a:ext cx="3657600" cy="1143000"/>
          </a:xfrm>
          <a:prstGeom prst="rect">
            <a:avLst/>
          </a:prstGeom>
          <a:solidFill>
            <a:srgbClr val="F1F2E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EF62E-6A98-65D3-1904-46C9618F7F19}"/>
              </a:ext>
            </a:extLst>
          </p:cNvPr>
          <p:cNvSpPr txBox="1"/>
          <p:nvPr/>
        </p:nvSpPr>
        <p:spPr>
          <a:xfrm>
            <a:off x="4581144" y="1682496"/>
            <a:ext cx="338328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6D8AC-56A8-D628-FBA1-9C2EC10285BF}"/>
              </a:ext>
            </a:extLst>
          </p:cNvPr>
          <p:cNvSpPr txBox="1"/>
          <p:nvPr/>
        </p:nvSpPr>
        <p:spPr>
          <a:xfrm>
            <a:off x="4581144" y="1975104"/>
            <a:ext cx="338328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Ingestion and normalization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Archive validation, extraction, local path scans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B4AD90-E57F-DBE7-D43E-BBDB05852177}"/>
              </a:ext>
            </a:extLst>
          </p:cNvPr>
          <p:cNvSpPr/>
          <p:nvPr/>
        </p:nvSpPr>
        <p:spPr>
          <a:xfrm>
            <a:off x="8229600" y="1554480"/>
            <a:ext cx="3291840" cy="1143000"/>
          </a:xfrm>
          <a:prstGeom prst="rect">
            <a:avLst/>
          </a:prstGeom>
          <a:solidFill>
            <a:srgbClr val="FAF0D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EA113-D2CD-DE55-1F3D-82A6C149D2CD}"/>
              </a:ext>
            </a:extLst>
          </p:cNvPr>
          <p:cNvSpPr txBox="1"/>
          <p:nvPr/>
        </p:nvSpPr>
        <p:spPr>
          <a:xfrm>
            <a:off x="8375904" y="1682496"/>
            <a:ext cx="3017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D9346-5F04-C504-E8FB-82FFAB1F9C5B}"/>
              </a:ext>
            </a:extLst>
          </p:cNvPr>
          <p:cNvSpPr txBox="1"/>
          <p:nvPr/>
        </p:nvSpPr>
        <p:spPr>
          <a:xfrm>
            <a:off x="8375904" y="1975104"/>
            <a:ext cx="3017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UI, tests, docs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Mock-first UI, golden reports, dev guide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76FE70-A711-9F61-863E-E20533E7461D}"/>
              </a:ext>
            </a:extLst>
          </p:cNvPr>
          <p:cNvSpPr/>
          <p:nvPr/>
        </p:nvSpPr>
        <p:spPr>
          <a:xfrm>
            <a:off x="640080" y="3017520"/>
            <a:ext cx="3566160" cy="1325880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43388-A710-3CC1-F6C3-AE90B312D565}"/>
              </a:ext>
            </a:extLst>
          </p:cNvPr>
          <p:cNvSpPr txBox="1"/>
          <p:nvPr/>
        </p:nvSpPr>
        <p:spPr>
          <a:xfrm>
            <a:off x="786384" y="3145536"/>
            <a:ext cx="32918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686BE-586E-48C9-3F55-D3AFEF9EC15E}"/>
              </a:ext>
            </a:extLst>
          </p:cNvPr>
          <p:cNvSpPr txBox="1"/>
          <p:nvPr/>
        </p:nvSpPr>
        <p:spPr>
          <a:xfrm>
            <a:off x="786384" y="3438144"/>
            <a:ext cx="32918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Detector SPI + Node/Java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Evidence model, confidence model, Maven/Gradle, npm/yarn/pnpm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376D67-473B-2FF1-4635-20396F28DE5D}"/>
              </a:ext>
            </a:extLst>
          </p:cNvPr>
          <p:cNvSpPr/>
          <p:nvPr/>
        </p:nvSpPr>
        <p:spPr>
          <a:xfrm>
            <a:off x="4526280" y="3017520"/>
            <a:ext cx="3566159" cy="1325880"/>
          </a:xfrm>
          <a:prstGeom prst="rect">
            <a:avLst/>
          </a:prstGeom>
          <a:solidFill>
            <a:srgbClr val="E8EEF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7D754-AD9F-0A62-CD40-E77E6990C791}"/>
              </a:ext>
            </a:extLst>
          </p:cNvPr>
          <p:cNvSpPr txBox="1"/>
          <p:nvPr/>
        </p:nvSpPr>
        <p:spPr>
          <a:xfrm>
            <a:off x="4672584" y="3145536"/>
            <a:ext cx="32918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B263B-6AE8-54ED-A362-5A8BE5C6E83C}"/>
              </a:ext>
            </a:extLst>
          </p:cNvPr>
          <p:cNvSpPr txBox="1"/>
          <p:nvPr/>
        </p:nvSpPr>
        <p:spPr>
          <a:xfrm>
            <a:off x="4672584" y="3438144"/>
            <a:ext cx="32918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Python/.NET/Go/Docker/CI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Follow SPI exactly, no parallel detector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005E27-902A-F3AD-AC20-21DF24DA86F2}"/>
              </a:ext>
            </a:extLst>
          </p:cNvPr>
          <p:cNvSpPr/>
          <p:nvPr/>
        </p:nvSpPr>
        <p:spPr>
          <a:xfrm>
            <a:off x="8412480" y="3017520"/>
            <a:ext cx="2926081" cy="1325880"/>
          </a:xfrm>
          <a:prstGeom prst="rect">
            <a:avLst/>
          </a:prstGeom>
          <a:solidFill>
            <a:srgbClr val="F5F6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F4FA0F-8450-DCDB-D4F0-7E829A6C61D6}"/>
              </a:ext>
            </a:extLst>
          </p:cNvPr>
          <p:cNvSpPr txBox="1"/>
          <p:nvPr/>
        </p:nvSpPr>
        <p:spPr>
          <a:xfrm>
            <a:off x="8558784" y="3145536"/>
            <a:ext cx="265176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41F2D"/>
                </a:solidFill>
                <a:latin typeface="Aptos Display" panose="020B0004020202020204" pitchFamily="34" charset="0"/>
              </a:rPr>
              <a:t>Worker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AC4FD8-0E9B-5385-AC3D-D2C2BF70C812}"/>
              </a:ext>
            </a:extLst>
          </p:cNvPr>
          <p:cNvSpPr txBox="1"/>
          <p:nvPr/>
        </p:nvSpPr>
        <p:spPr>
          <a:xfrm>
            <a:off x="8558784" y="3438144"/>
            <a:ext cx="265176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Support policy + recommendations</a:t>
            </a:r>
          </a:p>
          <a:p>
            <a:r>
              <a:rPr lang="en-US" sz="1300">
                <a:solidFill>
                  <a:srgbClr val="2B2B2B"/>
                </a:solidFill>
                <a:latin typeface="Aptos" panose="020B0004020202020204" pitchFamily="34" charset="0"/>
              </a:rPr>
              <a:t>Policy dataset, expiry mapping, upgrade options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EE805E-A278-CFC6-EE20-D1BCC04BBCD5}"/>
              </a:ext>
            </a:extLst>
          </p:cNvPr>
          <p:cNvSpPr txBox="1"/>
          <p:nvPr/>
        </p:nvSpPr>
        <p:spPr>
          <a:xfrm>
            <a:off x="841248" y="4983480"/>
            <a:ext cx="1024128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Worker 1 approves shared API and report model changes.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Worker 3 owns the detector SPI; Worker 4 builds on it and does not fork it.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2B2B2B"/>
                </a:solidFill>
                <a:latin typeface="Aptos" panose="020B0004020202020204" pitchFamily="34" charset="0"/>
              </a:rPr>
              <a:t>Worker 5 consumes detector output only and should not add direct filesystem scanning.</a:t>
            </a:r>
          </a:p>
        </p:txBody>
      </p:sp>
    </p:spTree>
    <p:extLst>
      <p:ext uri="{BB962C8B-B14F-4D97-AF65-F5344CB8AC3E}">
        <p14:creationId xmlns:p14="http://schemas.microsoft.com/office/powerpoint/2010/main" val="326460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5CCA7-1ADC-FF4D-13A6-CB444434908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8A1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23FE1-83EC-7FD7-A6DD-6050CC419A99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Guardrails and Handoffs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645C5-17BC-52F4-C683-AEFA1C46A735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The fastest path is crisp ownership plus disciplined integration points.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B3D71-C12F-4E51-FD39-FA4CC2E67EA0}"/>
              </a:ext>
            </a:extLst>
          </p:cNvPr>
          <p:cNvSpPr/>
          <p:nvPr/>
        </p:nvSpPr>
        <p:spPr>
          <a:xfrm>
            <a:off x="566928" y="1508760"/>
            <a:ext cx="5440680" cy="4434840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98B40-3A28-23D8-4242-69B89BF57F8C}"/>
              </a:ext>
            </a:extLst>
          </p:cNvPr>
          <p:cNvSpPr/>
          <p:nvPr/>
        </p:nvSpPr>
        <p:spPr>
          <a:xfrm>
            <a:off x="6172200" y="1508760"/>
            <a:ext cx="54406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01648-EFBE-F8BD-7F21-CE90A68E254E}"/>
              </a:ext>
            </a:extLst>
          </p:cNvPr>
          <p:cNvSpPr txBox="1"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Shared 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965C9-8960-C74D-93A4-97AAA1FD5A63}"/>
              </a:ext>
            </a:extLst>
          </p:cNvPr>
          <p:cNvSpPr txBox="1"/>
          <p:nvPr/>
        </p:nvSpPr>
        <p:spPr>
          <a:xfrm>
            <a:off x="84124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Worker 1 is the final owner of API and report model changes.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Worker 3 defines the detector SPI before Worker 4 expands ecosystem coverage.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Worker 5 consumes detector output only and does not add direct scanning logic.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Worker 6 builds UI against mocks first, then live endpoints.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8DC4C-6B45-D2F3-C505-E58BD6D8FB5D}"/>
              </a:ext>
            </a:extLst>
          </p:cNvPr>
          <p:cNvSpPr txBox="1"/>
          <p:nvPr/>
        </p:nvSpPr>
        <p:spPr>
          <a:xfrm>
            <a:off x="644652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Key risks to manage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51658-3D66-3E5F-2139-42DE2C9E4418}"/>
              </a:ext>
            </a:extLst>
          </p:cNvPr>
          <p:cNvSpPr txBox="1"/>
          <p:nvPr/>
        </p:nvSpPr>
        <p:spPr>
          <a:xfrm>
            <a:off x="646480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Version resolution gaps when manifests inherit or omit versions.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False confidence from non-deterministic dependency graphs.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Policy-data mismatches if lifecycle rules are not explicit.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UI churn if the normalized report shape changes late.</a:t>
            </a:r>
          </a:p>
        </p:txBody>
      </p:sp>
    </p:spTree>
    <p:extLst>
      <p:ext uri="{BB962C8B-B14F-4D97-AF65-F5344CB8AC3E}">
        <p14:creationId xmlns:p14="http://schemas.microsoft.com/office/powerpoint/2010/main" val="31023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60502-7DFD-27EA-56A8-BFD88D9B7A0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AC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920A1-F08F-D774-8EBB-EE04E899E6E5}"/>
              </a:ext>
            </a:extLst>
          </p:cNvPr>
          <p:cNvSpPr txBox="1"/>
          <p:nvPr/>
        </p:nvSpPr>
        <p:spPr>
          <a:xfrm>
            <a:off x="548640" y="411480"/>
            <a:ext cx="777240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141F2D"/>
                </a:solidFill>
                <a:latin typeface="Aptos Display" panose="020B0004020202020204" pitchFamily="34" charset="0"/>
              </a:rPr>
              <a:t>Immediate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C9481-9868-6ED4-4014-F2E795235E8B}"/>
              </a:ext>
            </a:extLst>
          </p:cNvPr>
          <p:cNvSpPr txBox="1"/>
          <p:nvPr/>
        </p:nvSpPr>
        <p:spPr>
          <a:xfrm>
            <a:off x="566928" y="1078992"/>
            <a:ext cx="80467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70645B"/>
                </a:solidFill>
                <a:latin typeface="Aptos" panose="020B0004020202020204" pitchFamily="34" charset="0"/>
              </a:rPr>
              <a:t>Milestone 1 should leave the team with a working, demoable scan 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62DD9F-2A40-B071-8714-70D71C291344}"/>
              </a:ext>
            </a:extLst>
          </p:cNvPr>
          <p:cNvSpPr/>
          <p:nvPr/>
        </p:nvSpPr>
        <p:spPr>
          <a:xfrm>
            <a:off x="566928" y="1508760"/>
            <a:ext cx="5440680" cy="4434840"/>
          </a:xfrm>
          <a:prstGeom prst="rect">
            <a:avLst/>
          </a:prstGeom>
          <a:solidFill>
            <a:srgbClr val="F8F6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5D0BB-1ECE-CDCB-8A0C-CC27458312B2}"/>
              </a:ext>
            </a:extLst>
          </p:cNvPr>
          <p:cNvSpPr/>
          <p:nvPr/>
        </p:nvSpPr>
        <p:spPr>
          <a:xfrm>
            <a:off x="6172200" y="1508760"/>
            <a:ext cx="54406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14FBC-4340-9E76-FEAD-BD3F59D5324A}"/>
              </a:ext>
            </a:extLst>
          </p:cNvPr>
          <p:cNvSpPr txBox="1"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First sprint deliverables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6BA81-575C-4E92-FAF6-8676A33153EC}"/>
              </a:ext>
            </a:extLst>
          </p:cNvPr>
          <p:cNvSpPr txBox="1"/>
          <p:nvPr/>
        </p:nvSpPr>
        <p:spPr>
          <a:xfrm>
            <a:off x="84124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Shared API/report contract and scan lifecycle model.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Runnable Java app skeleton with static UI hosting.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Archive ingestion, temp workspace normalization, and initial fixtures.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Mock-backed upload UI and early report rendering.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254D-3DCC-6CDE-2D5B-8B3AB274C4F3}"/>
              </a:ext>
            </a:extLst>
          </p:cNvPr>
          <p:cNvSpPr txBox="1"/>
          <p:nvPr/>
        </p:nvSpPr>
        <p:spPr>
          <a:xfrm>
            <a:off x="6446520" y="1755648"/>
            <a:ext cx="4572000" cy="3200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800" b="1">
                <a:solidFill>
                  <a:srgbClr val="141F2D"/>
                </a:solidFill>
                <a:latin typeface="Aptos Display" panose="020B0004020202020204" pitchFamily="34" charset="0"/>
              </a:rPr>
              <a:t>Definition of done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43186-2240-1E39-875E-0EAE6D0067CC}"/>
              </a:ext>
            </a:extLst>
          </p:cNvPr>
          <p:cNvSpPr txBox="1"/>
          <p:nvPr/>
        </p:nvSpPr>
        <p:spPr>
          <a:xfrm>
            <a:off x="6464808" y="2148840"/>
            <a:ext cx="466344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Upload an archive and complete a scan end to end.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See detected technologies with evidence and confidence.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View support status, support expiry, and recommended next version.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2B2B2B"/>
                </a:solidFill>
                <a:latin typeface="Aptos" panose="020B0004020202020204" pitchFamily="34" charset="0"/>
              </a:rPr>
              <a:t>Download the normalized JSON report for validation.</a:t>
            </a:r>
          </a:p>
        </p:txBody>
      </p:sp>
    </p:spTree>
    <p:extLst>
      <p:ext uri="{BB962C8B-B14F-4D97-AF65-F5344CB8AC3E}">
        <p14:creationId xmlns:p14="http://schemas.microsoft.com/office/powerpoint/2010/main" val="14771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On-screen Show (16:10)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Dhanuka, Hardik</dc:creator>
  <cp:lastModifiedBy>Dhanuka, Hardik</cp:lastModifiedBy>
  <cp:revision>1</cp:revision>
  <dcterms:created xsi:type="dcterms:W3CDTF">2026-04-16T19:01:36Z</dcterms:created>
  <dcterms:modified xsi:type="dcterms:W3CDTF">2026-04-16T19:01:36Z</dcterms:modified>
</cp:coreProperties>
</file>